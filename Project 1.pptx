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76" r:id="rId5"/>
  </p:sldMasterIdLst>
  <p:notesMasterIdLst>
    <p:notesMasterId r:id="rId22"/>
  </p:notesMasterIdLst>
  <p:handoutMasterIdLst>
    <p:handoutMasterId r:id="rId23"/>
  </p:handoutMasterIdLst>
  <p:sldIdLst>
    <p:sldId id="2564" r:id="rId6"/>
    <p:sldId id="2565" r:id="rId7"/>
    <p:sldId id="2566" r:id="rId8"/>
    <p:sldId id="2567" r:id="rId9"/>
    <p:sldId id="2568" r:id="rId10"/>
    <p:sldId id="2569" r:id="rId11"/>
    <p:sldId id="2570" r:id="rId12"/>
    <p:sldId id="2571" r:id="rId13"/>
    <p:sldId id="2572" r:id="rId14"/>
    <p:sldId id="2563" r:id="rId15"/>
    <p:sldId id="2573" r:id="rId16"/>
    <p:sldId id="2574" r:id="rId17"/>
    <p:sldId id="2575" r:id="rId18"/>
    <p:sldId id="2576" r:id="rId19"/>
    <p:sldId id="2578" r:id="rId20"/>
    <p:sldId id="25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nthly Income Distribution: Stayed vs Left" id="{9F27CE44-C559-4849-BABC-74EEA457E52E}">
          <p14:sldIdLst>
            <p14:sldId id="2564"/>
            <p14:sldId id="2565"/>
            <p14:sldId id="2566"/>
            <p14:sldId id="2567"/>
            <p14:sldId id="2568"/>
            <p14:sldId id="2569"/>
            <p14:sldId id="2570"/>
            <p14:sldId id="2571"/>
          </p14:sldIdLst>
        </p14:section>
        <p14:section name="Monthly Income Distribution Analysis" id="{7F27B01D-E474-423D-BC1D-05387F24C5C3}">
          <p14:sldIdLst>
            <p14:sldId id="2572"/>
            <p14:sldId id="2563"/>
            <p14:sldId id="2573"/>
            <p14:sldId id="2574"/>
            <p14:sldId id="2575"/>
            <p14:sldId id="2576"/>
            <p14:sldId id="2578"/>
            <p14:sldId id="25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B8863-9BE1-38EB-15F5-5F4DDC829F16}" v="1" dt="2025-10-20T16:34:53.423"/>
    <p1510:client id="{EAF7ECD8-B2E1-4496-8D19-C2EABABAB057}" v="6" dt="2025-10-20T16:33:28.980"/>
    <p1510:client id="{F9355084-A95E-4787-AAA1-7139A215931C}" v="1" dt="2025-10-20T16:38:55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C298A7-3C74-DFD7-1B3B-DC93EAD564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Project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9A6669-D06F-88FB-891E-C05E06F368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0B2B-1B14-4BAF-B39F-AC76514EB575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25762-20C4-BC79-8827-570F60BA5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319E-03B4-5CB4-621E-58D22B7215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5B917-47E6-4AB5-A3E7-93ABAE6DB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7876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Project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45A78-AA20-482D-A344-678B8FCBB617}" type="datetimeFigureOut"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51BE3-7E51-449F-8A40-A513E00AA2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5647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DA38441-905E-91C0-21CC-4DA31F11885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273797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90236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A93F-3693-E282-517C-3DAA6485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087C0-70F6-0A30-6542-658D65112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ABFA4-D260-015B-DB84-4299B0596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85D653-963B-F190-C300-D051C025B7A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36537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59C8-1362-B913-5EE8-C4EBCD02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3720B-AEEE-5331-BEDA-326088504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659BF-3975-8E78-31FE-31949435A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BBA8B5-9B9F-1CF6-E22E-E15D38EF9B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471902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95A4-DC59-900B-C9AA-B7EA16B6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48031-578F-B23A-41C1-716D32F5B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83C95-EEAC-3CDF-924B-D3B48848B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AFABED9-82DF-5320-2C03-6F90FFE2152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661397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394B-3424-D20E-A2FE-66E988BF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5F24A-F54B-1372-BB6A-605A16528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B5C62-87AD-8F90-82F9-05453C3E5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41F7D6E-1428-2B37-F94C-1C85E0BF4B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550876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F0B3E-7C33-7ADF-A12D-80D167D5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5C55F-13AC-EA96-AE72-9A64B80B6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29FFC-AC1F-0E87-8077-B2D83B38C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13A5CDE-00D4-B491-28E0-530091F3A2E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092878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024E-436F-FF50-5FB8-F6A03083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F3DA5-FAB0-55EA-DD7C-DEF1428B8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9C79D-360E-5EA7-0886-A4E5ADBE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51E9CF1-DD9A-757F-2644-36CDB39C88D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1511409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0E7C-112C-9C17-E193-AA2BF800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82125-28CB-B19F-5DC6-7B4B896B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C4885-07DD-3832-2367-B9C99229A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EFF22E8-EBA6-630F-45C7-5260CC83FCE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2770388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86FB69B-DCE5-1FB0-90EF-D390DE00269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991787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3AD5-9675-4A3C-3D3F-517E9BE5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6454-CB7C-F472-249A-B21823600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E7A8D-C746-B5EC-1AC0-3E1723017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7A8E8B-890A-CAEE-DE5F-FA0837CEDD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908049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425DF-22B9-FBF1-46A4-03539D4D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22528-BF64-FD1F-EB29-296A91467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9CC34-1EC7-B2FC-B4C7-4E0554641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9F7A34-0B4D-D406-B896-C6F98EA7444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4053875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77861-ED6B-9922-304A-8DBA700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7D9B7-766F-91CD-14BE-87DCF0178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2255A-B059-51F6-3897-2E744E68C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32B0636-BAC9-5ADF-8FAA-7C90645F798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2329203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ACD1-FD68-C1A4-C025-A015E03C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3A00F-06C2-5078-6544-1109FFB4D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D7188-4C9F-5A68-28ED-64F31B39F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D73394A-0FDD-3B8D-CE65-3F15F1C1D49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988469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5F1E-6D45-AF4D-4F3F-1A574D07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A673F-93FA-2E8F-94E1-1FE58C448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67175-6CBD-3F86-1315-5BDDC36D9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0D6E106-0528-1BD8-0505-004CCFD794F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2226967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2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3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21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9" y="207982"/>
            <a:ext cx="266279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97CC89-03EE-4685-9BD8-8F7B6698A0E4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3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183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1DE29-C793-4426-9436-78F754530D54}" type="datetime1">
              <a:rPr lang="en-US" smtClean="0"/>
              <a:t>10/24/2025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3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6236208" cy="369417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6236208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3504" y="207982"/>
            <a:ext cx="1682496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25A645-E38A-46A6-8A56-369F8558AD8D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09803" y="207982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8624" y="0"/>
            <a:ext cx="4913373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083F37-054B-54D7-2AD5-6DFFCC79603C}"/>
              </a:ext>
            </a:extLst>
          </p:cNvPr>
          <p:cNvCxnSpPr>
            <a:cxnSpLocks/>
          </p:cNvCxnSpPr>
          <p:nvPr/>
        </p:nvCxnSpPr>
        <p:spPr>
          <a:xfrm>
            <a:off x="0" y="5287974"/>
            <a:ext cx="72776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9AB8D9-761C-35FC-CA6D-1317D71DF6BE}"/>
              </a:ext>
            </a:extLst>
          </p:cNvPr>
          <p:cNvCxnSpPr>
            <a:cxnSpLocks/>
          </p:cNvCxnSpPr>
          <p:nvPr/>
        </p:nvCxnSpPr>
        <p:spPr>
          <a:xfrm flipV="1">
            <a:off x="7277621" y="3"/>
            <a:ext cx="0" cy="685800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45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2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2F30B06-63EE-489D-B498-5179DBF0C0EC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2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EB3F954-B0A7-AD5D-A897-AAA57CEEA7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6858000"/>
          </a:xfrm>
          <a:custGeom>
            <a:avLst/>
            <a:gdLst>
              <a:gd name="connsiteX0" fmla="*/ 6914322 w 12198096"/>
              <a:gd name="connsiteY0" fmla="*/ 789558 h 6858000"/>
              <a:gd name="connsiteX1" fmla="*/ 6914322 w 12198096"/>
              <a:gd name="connsiteY1" fmla="*/ 6106620 h 6858000"/>
              <a:gd name="connsiteX2" fmla="*/ 11547659 w 12198096"/>
              <a:gd name="connsiteY2" fmla="*/ 6106620 h 6858000"/>
              <a:gd name="connsiteX3" fmla="*/ 11547659 w 12198096"/>
              <a:gd name="connsiteY3" fmla="*/ 789558 h 6858000"/>
              <a:gd name="connsiteX4" fmla="*/ 0 w 12198096"/>
              <a:gd name="connsiteY4" fmla="*/ 0 h 6858000"/>
              <a:gd name="connsiteX5" fmla="*/ 12198096 w 12198096"/>
              <a:gd name="connsiteY5" fmla="*/ 0 h 6858000"/>
              <a:gd name="connsiteX6" fmla="*/ 12198096 w 12198096"/>
              <a:gd name="connsiteY6" fmla="*/ 6858000 h 6858000"/>
              <a:gd name="connsiteX7" fmla="*/ 0 w 121980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8096" h="6858000">
                <a:moveTo>
                  <a:pt x="6914322" y="789558"/>
                </a:moveTo>
                <a:lnTo>
                  <a:pt x="6914322" y="6106620"/>
                </a:lnTo>
                <a:lnTo>
                  <a:pt x="11547659" y="6106620"/>
                </a:lnTo>
                <a:lnTo>
                  <a:pt x="11547659" y="789558"/>
                </a:lnTo>
                <a:close/>
                <a:moveTo>
                  <a:pt x="0" y="0"/>
                </a:moveTo>
                <a:lnTo>
                  <a:pt x="12198096" y="0"/>
                </a:lnTo>
                <a:lnTo>
                  <a:pt x="121980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4326" y="789558"/>
            <a:ext cx="4633337" cy="4212210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347472" rIns="22860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4321" y="4994648"/>
            <a:ext cx="4633339" cy="1111972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45720" rIns="27432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4325" y="207982"/>
            <a:ext cx="2687063" cy="41336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AE1238D-DC7D-42FB-AAB5-D2922CA9131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5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5422392" cy="3822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3" y="5486400"/>
            <a:ext cx="5422391" cy="97840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15840" y="207982"/>
            <a:ext cx="1280160" cy="413360"/>
          </a:xfrm>
        </p:spPr>
        <p:txBody>
          <a:bodyPr/>
          <a:lstStyle/>
          <a:p>
            <a:fld id="{BF08B06D-C314-42EE-8A43-842BAE98A531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8238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5555" y="0"/>
            <a:ext cx="5156444" cy="685800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B20121-9211-E62C-6EDF-8301AE0A0865}"/>
              </a:ext>
            </a:extLst>
          </p:cNvPr>
          <p:cNvCxnSpPr>
            <a:cxnSpLocks/>
          </p:cNvCxnSpPr>
          <p:nvPr/>
        </p:nvCxnSpPr>
        <p:spPr>
          <a:xfrm>
            <a:off x="-4131" y="5215687"/>
            <a:ext cx="70322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A69D92-87B2-B41F-6979-69668092108B}"/>
              </a:ext>
            </a:extLst>
          </p:cNvPr>
          <p:cNvCxnSpPr>
            <a:cxnSpLocks/>
          </p:cNvCxnSpPr>
          <p:nvPr/>
        </p:nvCxnSpPr>
        <p:spPr>
          <a:xfrm flipV="1">
            <a:off x="7028120" y="3"/>
            <a:ext cx="0" cy="685800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754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2" y="749808"/>
            <a:ext cx="9287135" cy="34107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11155680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0E48A6-5DB9-4870-ACFD-763B874BE860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0B70F0-3BE4-FD57-7260-3612F25DFB6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58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5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1" y="6254496"/>
            <a:ext cx="1679643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359345-E8F3-4DCC-9991-1BE35AF7C73A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478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1426464"/>
            <a:ext cx="9528048" cy="41834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2" y="5779008"/>
            <a:ext cx="9528047" cy="9235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72" y="207982"/>
            <a:ext cx="2168017" cy="413360"/>
          </a:xfrm>
        </p:spPr>
        <p:txBody>
          <a:bodyPr/>
          <a:lstStyle/>
          <a:p>
            <a:fld id="{C81A9B3A-A562-442A-AF5D-285ADDB62E90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6B2E7A-179E-B6D8-4F25-0673E53A95D4}"/>
              </a:ext>
            </a:extLst>
          </p:cNvPr>
          <p:cNvCxnSpPr>
            <a:cxnSpLocks/>
          </p:cNvCxnSpPr>
          <p:nvPr/>
        </p:nvCxnSpPr>
        <p:spPr>
          <a:xfrm>
            <a:off x="3" y="790415"/>
            <a:ext cx="121919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775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1F108-CE8C-4B42-A612-B5CD0B5E21AD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58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550F9B-DA3B-4A64-BAA4-62745B99149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0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3" y="2832656"/>
            <a:ext cx="6893719" cy="3508951"/>
          </a:xfrm>
        </p:spPr>
        <p:txBody>
          <a:bodyPr anchor="t">
            <a:normAutofit/>
          </a:bodyPr>
          <a:lstStyle>
            <a:lvl1pPr marL="457189" indent="-457189">
              <a:buFont typeface="+mj-lt"/>
              <a:buAutoNum type="arabicPeriod"/>
              <a:defRPr sz="2000"/>
            </a:lvl1pPr>
            <a:lvl2pPr marL="800080" indent="-342891">
              <a:buFont typeface="+mj-lt"/>
              <a:buAutoNum type="arabicPeriod"/>
              <a:defRPr sz="1800"/>
            </a:lvl2pPr>
            <a:lvl3pPr marL="1257269" indent="-342891">
              <a:buFont typeface="+mj-lt"/>
              <a:buAutoNum type="arabicPeriod"/>
              <a:defRPr sz="1600"/>
            </a:lvl3pPr>
            <a:lvl4pPr marL="1714457" indent="-342891">
              <a:buFont typeface="+mj-lt"/>
              <a:buAutoNum type="arabicPeriod"/>
              <a:defRPr sz="1400"/>
            </a:lvl4pPr>
            <a:lvl5pPr marL="2171646" indent="-342891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B2DCB-26C2-4CAD-9E9C-9730AB8E91AF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211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189" indent="-457189">
              <a:buFont typeface="+mj-lt"/>
              <a:buAutoNum type="arabicPeriod"/>
              <a:defRPr sz="2000"/>
            </a:lvl1pPr>
            <a:lvl2pPr marL="800080" indent="-342891">
              <a:buFont typeface="+mj-lt"/>
              <a:buAutoNum type="arabicPeriod"/>
              <a:defRPr sz="1800"/>
            </a:lvl2pPr>
            <a:lvl3pPr marL="1257269" indent="-342891">
              <a:buFont typeface="+mj-lt"/>
              <a:buAutoNum type="arabicPeriod"/>
              <a:defRPr sz="1600"/>
            </a:lvl3pPr>
            <a:lvl4pPr marL="1714457" indent="-342891">
              <a:buFont typeface="+mj-lt"/>
              <a:buAutoNum type="arabicPeriod"/>
              <a:defRPr sz="1400"/>
            </a:lvl4pPr>
            <a:lvl5pPr marL="2171646" indent="-342891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2" y="210312"/>
            <a:ext cx="1679643" cy="411480"/>
          </a:xfrm>
        </p:spPr>
        <p:txBody>
          <a:bodyPr/>
          <a:lstStyle/>
          <a:p>
            <a:fld id="{113FA449-36B8-4721-BB44-70A937F53B12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8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012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8" y="1589105"/>
            <a:ext cx="5403264" cy="1622994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56E9D4-3B6F-5DDD-5E3B-A829B10E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8" y="3395402"/>
            <a:ext cx="5403264" cy="1837985"/>
          </a:xfrm>
        </p:spPr>
        <p:txBody>
          <a:bodyPr anchor="t"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0BAB4-BB08-FD4A-678D-2FFE35A0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2E2A-F2F1-46E8-83F8-7F9EB38822FE}" type="datetime1">
              <a:rPr lang="en-US" smtClean="0"/>
              <a:t>10/24/2025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F6EF0E-4178-1F33-0BF9-2A2B4C33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01A3D6-493E-2CE6-4153-5A2D3C978311}"/>
              </a:ext>
            </a:extLst>
          </p:cNvPr>
          <p:cNvCxnSpPr>
            <a:cxnSpLocks/>
          </p:cNvCxnSpPr>
          <p:nvPr/>
        </p:nvCxnSpPr>
        <p:spPr>
          <a:xfrm>
            <a:off x="2673336" y="781631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7E29DE-22CD-1512-C9E7-51C4D8B5F337}"/>
              </a:ext>
            </a:extLst>
          </p:cNvPr>
          <p:cNvCxnSpPr>
            <a:cxnSpLocks/>
          </p:cNvCxnSpPr>
          <p:nvPr/>
        </p:nvCxnSpPr>
        <p:spPr>
          <a:xfrm>
            <a:off x="9526413" y="781631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27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1100834"/>
            <a:ext cx="8533261" cy="23148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B2ADB6-8B11-5463-D307-3F4916C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893" y="3442328"/>
            <a:ext cx="3894179" cy="227488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457189" indent="0">
              <a:buNone/>
              <a:defRPr lang="en-US" dirty="0"/>
            </a:lvl2pPr>
            <a:lvl3pPr marL="914377" indent="0">
              <a:buNone/>
              <a:defRPr lang="en-US" dirty="0"/>
            </a:lvl3pPr>
            <a:lvl4pPr marL="1371566" indent="0">
              <a:buNone/>
              <a:defRPr lang="en-US" dirty="0"/>
            </a:lvl4pPr>
            <a:lvl5pPr marL="1828754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A9A27FE-5C62-0E4C-1D35-2B5BE652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A36A-B609-42CE-ADCC-28C2E58578E5}" type="datetime1">
              <a:rPr lang="en-US" smtClean="0"/>
              <a:t>10/24/2025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47450B0-6060-60C9-5AC2-20186A24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93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3" y="2077378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9" y="2210546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08410561-618A-4AE5-A551-5C4B29D071D1}" type="datetime1">
              <a:rPr lang="en-US" smtClean="0"/>
              <a:t>10/24/2025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9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998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3" y="1264789"/>
            <a:ext cx="4479107" cy="431591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2A59EF-3E61-0654-D289-2E1D6B73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9" y="1264782"/>
            <a:ext cx="5869293" cy="43159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E4E1FBF-A73A-1962-4961-FD2DDB21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C145E073-8B8C-4EFE-94D4-BE8B371D754C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5754BB-F3CF-1B1E-E0B8-85D0578C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9" y="787591"/>
            <a:ext cx="0" cy="527031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366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63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3" y="207982"/>
            <a:ext cx="1921315" cy="413360"/>
          </a:xfrm>
        </p:spPr>
        <p:txBody>
          <a:bodyPr/>
          <a:lstStyle/>
          <a:p>
            <a:fld id="{0E0C5FAF-6BA6-4F1C-9FBE-6895E8287468}" type="datetime1">
              <a:rPr lang="en-US" smtClean="0"/>
              <a:t>10/24/2025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7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54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1" y="1034473"/>
            <a:ext cx="11420337" cy="1582221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974113"/>
            <a:ext cx="11420336" cy="34015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E617F9A-AF72-E9F9-FE67-264CFD0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0522668-B624-9A0D-743B-874B6468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B91E-45A4-4287-B64A-B762BDD708FE}" type="datetime1">
              <a:rPr lang="en-US" smtClean="0"/>
              <a:t>10/24/2025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9EC300-3CBF-3BA7-991F-4143EBA2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2703185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648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90" y="1249963"/>
            <a:ext cx="3578905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4E7AB67-A25E-F99D-7053-223A31AB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959" y="1249962"/>
            <a:ext cx="7022847" cy="5362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B773E1-C0C5-10BC-5283-0943095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5960" y="207982"/>
            <a:ext cx="1921315" cy="413360"/>
          </a:xfrm>
        </p:spPr>
        <p:txBody>
          <a:bodyPr/>
          <a:lstStyle/>
          <a:p>
            <a:fld id="{5B5EFC1A-FCED-416E-A945-BE04A7B692E1}" type="datetime1">
              <a:rPr lang="en-US" smtClean="0"/>
              <a:t>10/24/2025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615B6D-D0FF-BC11-9C32-FDA7B7D0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336321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025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683140"/>
            <a:ext cx="1145234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3CC60A8-3DE8-B0E7-1EC5-2B337CF2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1743315"/>
            <a:ext cx="11452343" cy="491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EB01C-FB71-1416-6F69-B25D90D3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AD852-E717-484A-B4B2-46BEBA8D18AE}" type="datetime1">
              <a:rPr lang="en-US" smtClean="0"/>
              <a:t>10/24/2025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842DA4-700F-A2D4-6AB8-0BAEDF32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BF1F3F-87E2-1270-FB4D-FD251AD7E63C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371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8" y="210312"/>
            <a:ext cx="1679643" cy="411480"/>
          </a:xfrm>
        </p:spPr>
        <p:txBody>
          <a:bodyPr/>
          <a:lstStyle/>
          <a:p>
            <a:fld id="{AAA16173-E252-40FE-BFA0-666C6362300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8" y="2944372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389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6499655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1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64880" y="210311"/>
            <a:ext cx="1679643" cy="411480"/>
          </a:xfrm>
        </p:spPr>
        <p:txBody>
          <a:bodyPr/>
          <a:lstStyle/>
          <a:p>
            <a:fld id="{2F2436E7-0C79-474F-BA30-3A62905FAE6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4748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61" y="2944372"/>
            <a:ext cx="6499657" cy="35822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621" y="0"/>
            <a:ext cx="4914379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272857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66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8" y="210312"/>
            <a:ext cx="3531437" cy="4133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300" y="210312"/>
            <a:ext cx="1679643" cy="413360"/>
          </a:xfrm>
        </p:spPr>
        <p:txBody>
          <a:bodyPr/>
          <a:lstStyle/>
          <a:p>
            <a:fld id="{89D2A2B0-66A9-460B-A9B3-5908F2D80B3F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7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581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C3BD4B6B-E650-4C29-81F7-7D882703B7EA}" type="datetime1">
              <a:rPr lang="en-US" smtClean="0"/>
              <a:t>10/24/2025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7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5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029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1" y="749808"/>
            <a:ext cx="4163675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7520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73678" y="210312"/>
            <a:ext cx="1058111" cy="411480"/>
          </a:xfrm>
        </p:spPr>
        <p:txBody>
          <a:bodyPr/>
          <a:lstStyle/>
          <a:p>
            <a:fld id="{5BD123B7-0005-4F92-AA22-0F0BE579F780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4546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61" y="2944372"/>
            <a:ext cx="4163675" cy="35822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60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8811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1013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4" y="210312"/>
            <a:ext cx="1679643" cy="411480"/>
          </a:xfrm>
        </p:spPr>
        <p:txBody>
          <a:bodyPr/>
          <a:lstStyle/>
          <a:p>
            <a:fld id="{D09B0025-5F31-4370-B8BB-E16CB22259B7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5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5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4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6881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310" y="853949"/>
            <a:ext cx="4102575" cy="151607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8597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0309" y="213482"/>
            <a:ext cx="2129675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0368" y="210312"/>
            <a:ext cx="1216835" cy="411480"/>
          </a:xfrm>
        </p:spPr>
        <p:txBody>
          <a:bodyPr/>
          <a:lstStyle/>
          <a:p>
            <a:fld id="{FF866520-1481-445C-BF57-758925D70B2C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455" y="210312"/>
            <a:ext cx="67999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310" y="2578607"/>
            <a:ext cx="4102585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E9D652-D7DE-25C0-FCD7-3031AEEB0C6C}"/>
              </a:ext>
            </a:extLst>
          </p:cNvPr>
          <p:cNvCxnSpPr>
            <a:cxnSpLocks/>
          </p:cNvCxnSpPr>
          <p:nvPr/>
        </p:nvCxnSpPr>
        <p:spPr>
          <a:xfrm>
            <a:off x="7291895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9826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6" y="210312"/>
            <a:ext cx="2260057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31" y="210312"/>
            <a:ext cx="1058111" cy="411480"/>
          </a:xfrm>
        </p:spPr>
        <p:txBody>
          <a:bodyPr/>
          <a:lstStyle/>
          <a:p>
            <a:fld id="{77598A22-EA02-4B20-9D2A-F99DAB89742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200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6" y="2578613"/>
            <a:ext cx="4130607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60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346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3A03E0-A38C-4589-B597-2B166996B706}" type="datetime1">
              <a:rPr lang="en-US" smtClean="0"/>
              <a:t>10/24/2025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3" y="1834524"/>
            <a:ext cx="6378723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5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2840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1" y="749808"/>
            <a:ext cx="11514753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B12C2E-FD87-6FEB-F35D-ABCDF00C8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656A87-5539-46DA-CF5D-F2506ECA3F8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1194B9-2778-48C5-98DF-0A088A64D84E}" type="datetime1">
              <a:rPr lang="en-US" smtClean="0"/>
              <a:t>10/24/2025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AB7173-DF2F-B8EA-F83D-4C7263C765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1834525"/>
            <a:ext cx="4905943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911" y="2180556"/>
            <a:ext cx="6435936" cy="43047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914379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54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749808"/>
            <a:ext cx="11514757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BEAB049-8AFC-5262-0ECB-2E9CDA2066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6863A-85CF-52FA-E2B2-AF70382C69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7D64CC-2DC9-4604-97B1-039AB2065868}" type="datetime1">
              <a:rPr lang="en-US" smtClean="0"/>
              <a:t>10/24/2025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F7822C-4885-9FA2-F9E5-E0B61BDDB4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2180556"/>
            <a:ext cx="6419605" cy="437535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6059" y="1834525"/>
            <a:ext cx="4905943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7286059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4491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5166364"/>
            <a:ext cx="3656531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80"/>
            <a:ext cx="296265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3" y="6437197"/>
            <a:ext cx="4549413" cy="365125"/>
          </a:xfrm>
        </p:spPr>
        <p:txBody>
          <a:bodyPr/>
          <a:lstStyle/>
          <a:p>
            <a:fld id="{D124A149-9281-4DB4-B76D-62BD7353F1B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1" y="4842106"/>
            <a:ext cx="1219325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247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4364336"/>
            <a:ext cx="3593592" cy="16477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8096" cy="3985863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4321099"/>
            <a:ext cx="7136195" cy="2067424"/>
          </a:xfrm>
        </p:spPr>
        <p:txBody>
          <a:bodyPr/>
          <a:lstStyle>
            <a:lvl1pPr marL="0" indent="0">
              <a:buNone/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5"/>
            <a:ext cx="2962656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2" y="6437375"/>
            <a:ext cx="4549415" cy="365760"/>
          </a:xfrm>
        </p:spPr>
        <p:txBody>
          <a:bodyPr/>
          <a:lstStyle/>
          <a:p>
            <a:fld id="{7EC33A89-ADEC-4847-AD8C-382C7F0547D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437376"/>
            <a:ext cx="546447" cy="3657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3985867"/>
            <a:ext cx="0" cy="287213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1" y="3985863"/>
            <a:ext cx="1219325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600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12"/>
            <a:ext cx="3593592" cy="16421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3" y="210311"/>
            <a:ext cx="4549413" cy="411480"/>
          </a:xfrm>
        </p:spPr>
        <p:txBody>
          <a:bodyPr/>
          <a:lstStyle/>
          <a:p>
            <a:fld id="{E7C3218B-A5AD-440D-A87B-B4B9B44BF87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717941"/>
            <a:ext cx="7073776" cy="2066544"/>
          </a:xfrm>
        </p:spPr>
        <p:txBody>
          <a:bodyPr/>
          <a:lstStyle>
            <a:lvl1pPr marL="0" indent="0">
              <a:buNone/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048520"/>
            <a:ext cx="12198096" cy="380948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"/>
            <a:ext cx="0" cy="3045465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1" y="3045465"/>
            <a:ext cx="1219325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242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4392B674-7AB8-8272-87B1-5B7038F7CB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12191996" cy="6858000"/>
          </a:xfrm>
          <a:custGeom>
            <a:avLst/>
            <a:gdLst>
              <a:gd name="connsiteX0" fmla="*/ 795631 w 12191996"/>
              <a:gd name="connsiteY0" fmla="*/ 789997 h 6858000"/>
              <a:gd name="connsiteX1" fmla="*/ 795631 w 12191996"/>
              <a:gd name="connsiteY1" fmla="*/ 6068003 h 6858000"/>
              <a:gd name="connsiteX2" fmla="*/ 4649508 w 12191996"/>
              <a:gd name="connsiteY2" fmla="*/ 6068003 h 6858000"/>
              <a:gd name="connsiteX3" fmla="*/ 4649508 w 12191996"/>
              <a:gd name="connsiteY3" fmla="*/ 789997 h 6858000"/>
              <a:gd name="connsiteX4" fmla="*/ 0 w 12191996"/>
              <a:gd name="connsiteY4" fmla="*/ 0 h 6858000"/>
              <a:gd name="connsiteX5" fmla="*/ 12191996 w 12191996"/>
              <a:gd name="connsiteY5" fmla="*/ 0 h 6858000"/>
              <a:gd name="connsiteX6" fmla="*/ 12191996 w 12191996"/>
              <a:gd name="connsiteY6" fmla="*/ 6858000 h 6858000"/>
              <a:gd name="connsiteX7" fmla="*/ 0 w 121919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858000">
                <a:moveTo>
                  <a:pt x="795631" y="789997"/>
                </a:moveTo>
                <a:lnTo>
                  <a:pt x="795631" y="6068003"/>
                </a:lnTo>
                <a:lnTo>
                  <a:pt x="4649508" y="6068003"/>
                </a:lnTo>
                <a:lnTo>
                  <a:pt x="4649508" y="789997"/>
                </a:lnTo>
                <a:close/>
                <a:moveTo>
                  <a:pt x="0" y="0"/>
                </a:moveTo>
                <a:lnTo>
                  <a:pt x="12191996" y="0"/>
                </a:lnTo>
                <a:lnTo>
                  <a:pt x="121919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32" y="789997"/>
            <a:ext cx="3853877" cy="5280546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45720" tIns="320040" rIns="91440" bIns="3840480" rtlCol="0" anchor="t">
            <a:normAutofit/>
          </a:bodyPr>
          <a:lstStyle>
            <a:lvl1pPr marL="182875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688899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9520" y="210312"/>
            <a:ext cx="1060704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DE34A85-6E00-431F-BF85-9E8049D7BB15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03063" y="210312"/>
            <a:ext cx="546447" cy="41336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59" y="2356797"/>
            <a:ext cx="3364992" cy="3467535"/>
          </a:xfrm>
          <a:solidFill>
            <a:schemeClr val="bg2"/>
          </a:solidFill>
          <a:ln>
            <a:noFill/>
          </a:ln>
          <a:effectLst>
            <a:outerShdw dist="12700" dir="16200000" rotWithShape="0">
              <a:prstClr val="black"/>
            </a:outerShdw>
          </a:effectLst>
        </p:spPr>
        <p:txBody>
          <a:bodyPr lIns="45720" tIns="137160" rIns="45720" anchor="ctr">
            <a:normAutofit/>
          </a:bodyPr>
          <a:lstStyle>
            <a:lvl1pPr marL="0">
              <a:defRPr/>
            </a:lvl1pPr>
            <a:lvl2pPr marL="0">
              <a:defRPr/>
            </a:lvl2pPr>
            <a:lvl3pPr marL="0">
              <a:defRPr/>
            </a:lvl3pPr>
            <a:lvl4pPr marL="0">
              <a:defRPr/>
            </a:lvl4pPr>
            <a:lvl5pPr mar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3603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762006"/>
            <a:ext cx="6612787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17EAEF-B421-4298-8A24-F1A2C9304FBE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2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4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0730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762006"/>
            <a:ext cx="5294939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70C4A-BA92-6BFC-3B1F-307DC253CC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2862A36-3103-C394-ACDE-9712D22EC1E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644" y="207982"/>
            <a:ext cx="1921315" cy="413360"/>
          </a:xfrm>
        </p:spPr>
        <p:txBody>
          <a:bodyPr/>
          <a:lstStyle/>
          <a:p>
            <a:fld id="{884B811B-9D1D-45D4-8202-D15B714B922F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54C547-CF4F-67F9-FBC5-A0BE282578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442689"/>
            <a:ext cx="5875421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645" y="762000"/>
            <a:ext cx="5432239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8754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875423" y="4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6766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1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/>
          <a:lstStyle/>
          <a:p>
            <a:fld id="{BF2E9482-EF77-4C9C-BB73-133132CEAE14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5" y="1700784"/>
            <a:ext cx="3318171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1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638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1152147"/>
            <a:ext cx="4350052" cy="262095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4002" y="210312"/>
            <a:ext cx="1569351" cy="411480"/>
          </a:xfrm>
        </p:spPr>
        <p:txBody>
          <a:bodyPr/>
          <a:lstStyle/>
          <a:p>
            <a:fld id="{4D7A86C6-D7CB-4FD8-8E47-2A53FA39C15A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089773"/>
            <a:ext cx="4921917" cy="277775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5" y="1152144"/>
            <a:ext cx="6414499" cy="5401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083425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5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579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5" y="5197449"/>
            <a:ext cx="4244127" cy="14630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58385" y="210312"/>
            <a:ext cx="1569351" cy="411480"/>
          </a:xfrm>
        </p:spPr>
        <p:txBody>
          <a:bodyPr/>
          <a:lstStyle/>
          <a:p>
            <a:fld id="{16108F48-DF6B-4A64-B922-C2B97A24897D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794335"/>
            <a:ext cx="4921917" cy="404747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152144"/>
            <a:ext cx="6382512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841814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5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670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399" dirty="0">
                <a:solidFill>
                  <a:schemeClr val="accent1"/>
                </a:solidFill>
                <a:latin typeface="+mj-lt"/>
              </a:defRPr>
            </a:lvl1pPr>
            <a:lvl2pPr marL="457189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BBC277-404A-4834-81E0-8A688BABF2F3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94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6" y="5349240"/>
            <a:ext cx="11414692" cy="122529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40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456" y="1188325"/>
            <a:ext cx="11615861" cy="425807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70000"/>
              </a:lnSpc>
              <a:buNone/>
              <a:defRPr lang="en-US" sz="40099" dirty="0">
                <a:ln>
                  <a:solidFill>
                    <a:schemeClr val="tx2"/>
                  </a:solidFill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71BBE3-85A2-4A2A-A175-60A14801749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7407E9-9629-73EA-8583-87EC092046E4}"/>
              </a:ext>
            </a:extLst>
          </p:cNvPr>
          <p:cNvCxnSpPr>
            <a:cxnSpLocks/>
          </p:cNvCxnSpPr>
          <p:nvPr/>
        </p:nvCxnSpPr>
        <p:spPr>
          <a:xfrm>
            <a:off x="0" y="50559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EB09F8-0C93-A873-28FE-48A38B4CEAD9}"/>
              </a:ext>
            </a:extLst>
          </p:cNvPr>
          <p:cNvCxnSpPr>
            <a:cxnSpLocks/>
          </p:cNvCxnSpPr>
          <p:nvPr/>
        </p:nvCxnSpPr>
        <p:spPr>
          <a:xfrm>
            <a:off x="0" y="7887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759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399" dirty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2908BB-D953-4001-85F0-7F54694FC640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809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172725"/>
            <a:ext cx="11356848" cy="777240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cap="all" spc="100" baseline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2960" y="1201036"/>
            <a:ext cx="10543032" cy="405079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lnSpc>
                <a:spcPct val="70000"/>
              </a:lnSpc>
              <a:buNone/>
              <a:defRPr lang="en-US" sz="40099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  <a:lvl2pPr marL="457189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54495"/>
            <a:ext cx="2962656" cy="41148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6254495"/>
            <a:ext cx="1679643" cy="41148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B440930-F7D9-4451-8199-68538401DD58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59084B-1C57-0F86-56B0-E7DC2934BA40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44636A-F38C-DF3B-6439-B5B73A797B53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270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594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189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783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377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5" y="6263640"/>
            <a:ext cx="2963692" cy="4133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D1C09EA-1AE4-4E41-A379-5F179CDBFB05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23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76947" y="1341916"/>
            <a:ext cx="7024439" cy="412073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5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594" indent="0" algn="ctr">
              <a:lnSpc>
                <a:spcPct val="75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189" indent="0" algn="ctr">
              <a:lnSpc>
                <a:spcPct val="75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783" indent="0" algn="ctr">
              <a:lnSpc>
                <a:spcPct val="75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377" indent="0" algn="ctr">
              <a:lnSpc>
                <a:spcPct val="75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5" y="6264164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1" y="6264164"/>
            <a:ext cx="1679643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E81256-D39C-49B4-BF18-0E541DBFDD4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64164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08063B-506A-41A1-A6EA-745A876C5191}"/>
              </a:ext>
            </a:extLst>
          </p:cNvPr>
          <p:cNvCxnSpPr>
            <a:cxnSpLocks/>
          </p:cNvCxnSpPr>
          <p:nvPr/>
        </p:nvCxnSpPr>
        <p:spPr>
          <a:xfrm>
            <a:off x="0" y="78162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758C90-B148-7153-9C80-0F1076997894}"/>
              </a:ext>
            </a:extLst>
          </p:cNvPr>
          <p:cNvCxnSpPr>
            <a:cxnSpLocks/>
          </p:cNvCxnSpPr>
          <p:nvPr/>
        </p:nvCxnSpPr>
        <p:spPr>
          <a:xfrm>
            <a:off x="1693484" y="781631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474C37-D361-EDB7-BCC5-35E1A6EC3D9B}"/>
              </a:ext>
            </a:extLst>
          </p:cNvPr>
          <p:cNvCxnSpPr>
            <a:cxnSpLocks/>
          </p:cNvCxnSpPr>
          <p:nvPr/>
        </p:nvCxnSpPr>
        <p:spPr>
          <a:xfrm>
            <a:off x="10491119" y="781631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01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1727" y="1940090"/>
            <a:ext cx="10392476" cy="4614714"/>
          </a:xfrm>
        </p:spPr>
        <p:txBody>
          <a:bodyPr anchor="b">
            <a:noAutofit/>
          </a:bodyPr>
          <a:lstStyle>
            <a:lvl1pPr marL="0" indent="0">
              <a:lnSpc>
                <a:spcPct val="73000"/>
              </a:lnSpc>
              <a:buNone/>
              <a:defRPr sz="9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28594" indent="0">
              <a:lnSpc>
                <a:spcPct val="73000"/>
              </a:lnSpc>
              <a:buNone/>
              <a:defRPr sz="88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457189" indent="0">
              <a:lnSpc>
                <a:spcPct val="73000"/>
              </a:lnSpc>
              <a:buNone/>
              <a:defRPr sz="80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685783" indent="0">
              <a:lnSpc>
                <a:spcPct val="73000"/>
              </a:lnSpc>
              <a:buNone/>
              <a:defRPr sz="72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914377" indent="0">
              <a:lnSpc>
                <a:spcPct val="73000"/>
              </a:lnSpc>
              <a:buNone/>
              <a:defRPr sz="6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DBF41C21-5A93-4B5C-9AC8-975F5FD5825C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BBBFEC-32A4-8333-CEC0-6858CB1833EF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178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99" y="-1133856"/>
            <a:ext cx="10090647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5" y="384048"/>
            <a:ext cx="10090647" cy="478375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594" indent="0">
              <a:lnSpc>
                <a:spcPct val="10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189" indent="0">
              <a:lnSpc>
                <a:spcPct val="10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783" indent="0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377" indent="0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5" y="6264164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3" y="6264164"/>
            <a:ext cx="248667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F3B851-13BF-4315-BDD7-CB8FEA59B9D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64164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510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20"/>
            <a:ext cx="9692640" cy="3872159"/>
          </a:xfrm>
        </p:spPr>
        <p:txBody>
          <a:bodyPr>
            <a:normAutofit/>
          </a:bodyPr>
          <a:lstStyle>
            <a:lvl1pPr marL="274313" indent="-274313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13" indent="-274313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13" indent="-274313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13" indent="-274313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13" indent="-274313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4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5B57E6-58E8-4761-A40B-321959F51A3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1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288" y="5232212"/>
            <a:ext cx="10515600" cy="749808"/>
          </a:xfrm>
        </p:spPr>
        <p:txBody>
          <a:bodyPr anchor="ctr">
            <a:normAutofit/>
          </a:bodyPr>
          <a:lstStyle>
            <a:lvl1pPr>
              <a:defRPr sz="1600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380015"/>
            <a:ext cx="9400032" cy="4164557"/>
          </a:xfrm>
        </p:spPr>
        <p:txBody>
          <a:bodyPr anchor="t">
            <a:normAutofit/>
          </a:bodyPr>
          <a:lstStyle>
            <a:lvl1pPr marL="274313" indent="-274313">
              <a:lnSpc>
                <a:spcPct val="80000"/>
              </a:lnSpc>
              <a:buNone/>
              <a:defRPr sz="6000" cap="none" baseline="0">
                <a:solidFill>
                  <a:schemeClr val="accent1"/>
                </a:solidFill>
                <a:latin typeface="+mj-lt"/>
              </a:defRPr>
            </a:lvl1pPr>
            <a:lvl2pPr marL="274313" indent="-274313">
              <a:lnSpc>
                <a:spcPct val="80000"/>
              </a:lnSpc>
              <a:buNone/>
              <a:defRPr sz="5400" cap="none" baseline="0">
                <a:solidFill>
                  <a:schemeClr val="accent1"/>
                </a:solidFill>
                <a:latin typeface="+mj-lt"/>
              </a:defRPr>
            </a:lvl2pPr>
            <a:lvl3pPr marL="274313" indent="-274313">
              <a:lnSpc>
                <a:spcPct val="80000"/>
              </a:lnSpc>
              <a:buNone/>
              <a:defRPr sz="4800" cap="none" baseline="0">
                <a:solidFill>
                  <a:schemeClr val="accent1"/>
                </a:solidFill>
                <a:latin typeface="+mj-lt"/>
              </a:defRPr>
            </a:lvl3pPr>
            <a:lvl4pPr marL="274313" indent="-274313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4pPr>
            <a:lvl5pPr marL="274313" indent="-274313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87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4" y="6263640"/>
            <a:ext cx="2151180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24F480-DC62-4343-B207-5E0B7360D12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63640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9507B5-45FD-E0F8-4B50-156739F3ED87}"/>
              </a:ext>
            </a:extLst>
          </p:cNvPr>
          <p:cNvCxnSpPr>
            <a:cxnSpLocks/>
          </p:cNvCxnSpPr>
          <p:nvPr/>
        </p:nvCxnSpPr>
        <p:spPr>
          <a:xfrm>
            <a:off x="0" y="48627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5964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51109"/>
            <a:ext cx="9299448" cy="1005109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24712"/>
            <a:ext cx="9692640" cy="4187952"/>
          </a:xfrm>
        </p:spPr>
        <p:txBody>
          <a:bodyPr>
            <a:normAutofit/>
          </a:bodyPr>
          <a:lstStyle>
            <a:lvl1pPr marL="274313" indent="-274313">
              <a:lnSpc>
                <a:spcPct val="70000"/>
              </a:lnSpc>
              <a:buNone/>
              <a:defRPr sz="960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74313" indent="-274313">
              <a:lnSpc>
                <a:spcPct val="70000"/>
              </a:lnSpc>
              <a:buNone/>
              <a:defRPr sz="88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13" indent="-274313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13" indent="-274313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13" indent="-274313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4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DF4FB2-A27A-4026-8469-7D90EDA0B823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8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900" y="5209160"/>
            <a:ext cx="10698480" cy="832104"/>
          </a:xfrm>
        </p:spPr>
        <p:txBody>
          <a:bodyPr anchor="ctr">
            <a:normAutofit/>
          </a:bodyPr>
          <a:lstStyle>
            <a:lvl1pPr>
              <a:defRPr sz="2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749808"/>
            <a:ext cx="9400032" cy="3867912"/>
          </a:xfrm>
        </p:spPr>
        <p:txBody>
          <a:bodyPr>
            <a:normAutofit/>
          </a:bodyPr>
          <a:lstStyle>
            <a:lvl1pPr marL="182875" indent="-182875">
              <a:lnSpc>
                <a:spcPct val="100000"/>
              </a:lnSpc>
              <a:buNone/>
              <a:defRPr sz="4000" cap="none" baseline="0">
                <a:solidFill>
                  <a:schemeClr val="tx2"/>
                </a:solidFill>
                <a:latin typeface="+mn-lt"/>
              </a:defRPr>
            </a:lvl1pPr>
            <a:lvl2pPr marL="182875" indent="-182875">
              <a:lnSpc>
                <a:spcPct val="100000"/>
              </a:lnSpc>
              <a:buNone/>
              <a:defRPr sz="3600" cap="none" baseline="0">
                <a:solidFill>
                  <a:schemeClr val="tx2"/>
                </a:solidFill>
                <a:latin typeface="+mn-lt"/>
              </a:defRPr>
            </a:lvl2pPr>
            <a:lvl3pPr marL="182875" indent="-182875">
              <a:lnSpc>
                <a:spcPct val="100000"/>
              </a:lnSpc>
              <a:buNone/>
              <a:defRPr sz="3200" cap="none" baseline="0">
                <a:solidFill>
                  <a:schemeClr val="tx2"/>
                </a:solidFill>
                <a:latin typeface="+mn-lt"/>
              </a:defRPr>
            </a:lvl3pPr>
            <a:lvl4pPr marL="182875" indent="-182875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4pPr>
            <a:lvl5pPr marL="182875" indent="-182875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2BD14A-A8E3-4475-980A-BEA4A7FEB4EF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9C774-4A6A-D32B-59FA-2442E2B308E5}"/>
              </a:ext>
            </a:extLst>
          </p:cNvPr>
          <p:cNvCxnSpPr>
            <a:cxnSpLocks/>
          </p:cNvCxnSpPr>
          <p:nvPr/>
        </p:nvCxnSpPr>
        <p:spPr>
          <a:xfrm>
            <a:off x="0" y="5062769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23A142-B021-C473-CBA7-E0C9AA4E71D5}"/>
              </a:ext>
            </a:extLst>
          </p:cNvPr>
          <p:cNvCxnSpPr>
            <a:cxnSpLocks/>
          </p:cNvCxnSpPr>
          <p:nvPr/>
        </p:nvCxnSpPr>
        <p:spPr>
          <a:xfrm>
            <a:off x="0" y="6066955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448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CC257-0321-4D11-9B07-524886E2BAA2}" type="datetime1">
              <a:rPr lang="en-US" smtClean="0"/>
              <a:t>10/24/2025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8740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AF34F-ADFF-4715-810A-26727C0F0277}" type="datetime1">
              <a:rPr lang="en-US" smtClean="0"/>
              <a:t>10/24/2025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6434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1539-89CB-49F3-AF45-8BD5A67D7825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9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DCC2-238E-4D7B-8599-511F7CE0C744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909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5" y="1092200"/>
            <a:ext cx="3749040" cy="29077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337" y="207982"/>
            <a:ext cx="1921315" cy="413360"/>
          </a:xfrm>
        </p:spPr>
        <p:txBody>
          <a:bodyPr/>
          <a:lstStyle/>
          <a:p>
            <a:fld id="{107CF9CA-E633-405C-A4E5-2B61169B95FA}" type="datetime1">
              <a:rPr lang="en-US" smtClean="0"/>
              <a:t>10/24/2025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5" y="4096512"/>
            <a:ext cx="3749040" cy="232257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6" y="1092200"/>
            <a:ext cx="6858000" cy="53400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183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1088140"/>
            <a:ext cx="3467048" cy="29057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2855" y="207982"/>
            <a:ext cx="2605980" cy="413360"/>
          </a:xfrm>
        </p:spPr>
        <p:txBody>
          <a:bodyPr/>
          <a:lstStyle/>
          <a:p>
            <a:fld id="{2EABAF8B-5165-47A6-AF85-7F62FFCEABC6}" type="datetime1">
              <a:rPr lang="en-US" smtClean="0"/>
              <a:t>10/24/2025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3" y="4099038"/>
            <a:ext cx="3467048" cy="232562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292853" y="793731"/>
            <a:ext cx="7899147" cy="6073107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44ED1E-1404-EA59-99E6-D28F5236A529}"/>
              </a:ext>
            </a:extLst>
          </p:cNvPr>
          <p:cNvCxnSpPr>
            <a:cxnSpLocks/>
          </p:cNvCxnSpPr>
          <p:nvPr/>
        </p:nvCxnSpPr>
        <p:spPr>
          <a:xfrm>
            <a:off x="4292853" y="784895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3549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4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127C81-17FE-4115-B0CD-3029D9A2CF98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3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8475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2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6" y="3794765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3" y="210312"/>
            <a:ext cx="1679643" cy="411480"/>
          </a:xfrm>
        </p:spPr>
        <p:txBody>
          <a:bodyPr/>
          <a:lstStyle/>
          <a:p>
            <a:fld id="{CBDD7B1D-F538-4D77-AE65-023E8F630F49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496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2"/>
            <a:ext cx="882565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38261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50302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2861735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5575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2060577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4" y="2056093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720920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6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6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713067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89506-DBDD-4E2D-B18C-1147A3846421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998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119270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2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13A0-0A1C-45EF-BD93-72D6E6E5E9D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8054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7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7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6E08E-6598-4B84-A63F-54E12B0FE868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644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9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63045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1212"/>
      </p:ext>
    </p:extLst>
  </p:cSld>
  <p:clrMapOvr>
    <a:masterClrMapping/>
  </p:clrMapOvr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1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4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1" y="2613788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5752612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745424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61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5" y="2667000"/>
            <a:ext cx="294679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1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76795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1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3"/>
            <a:ext cx="294005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6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5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2"/>
            <a:ext cx="293440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701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6" y="482721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39082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32904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3" y="430215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4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E378-2BD0-4588-BA54-65803A6D51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76191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7" y="765752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9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F812-4E21-4A2E-8C8F-67C1BDC87AF2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7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5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5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1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1" b="1" cap="all" spc="100" baseline="0">
                <a:solidFill>
                  <a:schemeClr val="tx2"/>
                </a:solidFill>
              </a:defRPr>
            </a:lvl1pPr>
          </a:lstStyle>
          <a:p>
            <a:fld id="{B269872C-3D5A-4BA8-96D6-01D23AEF076F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3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1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  <p15:guide id="5" pos="7200" userDrawn="1">
          <p15:clr>
            <a:srgbClr val="F26B43"/>
          </p15:clr>
        </p15:guide>
        <p15:guide id="6" pos="504" userDrawn="1">
          <p15:clr>
            <a:srgbClr val="F26B43"/>
          </p15:clr>
        </p15:guide>
        <p15:guide id="7" orient="horz" pos="4128" userDrawn="1">
          <p15:clr>
            <a:srgbClr val="F26B43"/>
          </p15:clr>
        </p15:guide>
        <p15:guide id="8" orient="horz" pos="1056" userDrawn="1">
          <p15:clr>
            <a:srgbClr val="F26B43"/>
          </p15:clr>
        </p15:guide>
        <p15:guide id="9" pos="45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1" y="2669687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1" y="2892349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3" y="2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20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41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269872C-3D5A-4BA8-96D6-01D23AEF076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5" y="322529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2" y="295731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98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9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1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1" y="2892348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3" y="2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5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A0B882D-4FEF-4E28-9811-11D57386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6BB1C-C33F-8052-98E8-21AA5253C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580" y="1482647"/>
            <a:ext cx="10276749" cy="28193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b="1" cap="all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Frito Lay </a:t>
            </a:r>
          </a:p>
          <a:p>
            <a:r>
              <a:rPr lang="en-US" sz="5400" b="1" cap="all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Employee Attrition </a:t>
            </a:r>
          </a:p>
          <a:p>
            <a:r>
              <a:rPr lang="en-US" sz="5400" b="1" cap="all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Case Study</a:t>
            </a:r>
            <a:br>
              <a:rPr lang="en-US" sz="5400" cap="all" dirty="0">
                <a:solidFill>
                  <a:srgbClr val="A500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5400" cap="all" dirty="0">
              <a:solidFill>
                <a:srgbClr val="A500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DA6D14-0849-4180-8DEF-F2F6BF123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02486-7A63-6B81-D13D-9DE657AFC87B}"/>
              </a:ext>
            </a:extLst>
          </p:cNvPr>
          <p:cNvSpPr txBox="1"/>
          <p:nvPr/>
        </p:nvSpPr>
        <p:spPr>
          <a:xfrm>
            <a:off x="1351580" y="4652078"/>
            <a:ext cx="53446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By: Koosha Tabesh</a:t>
            </a:r>
          </a:p>
          <a:p>
            <a:r>
              <a:rPr lang="en-US" sz="3200" b="1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b="1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Fall 2025</a:t>
            </a:r>
          </a:p>
        </p:txBody>
      </p:sp>
      <p:pic>
        <p:nvPicPr>
          <p:cNvPr id="7" name="Picture 6" descr="A red horse with blue text&#10;&#10;AI-generated content may be incorrect.">
            <a:extLst>
              <a:ext uri="{FF2B5EF4-FFF2-40B4-BE49-F238E27FC236}">
                <a16:creationId xmlns:a16="http://schemas.microsoft.com/office/drawing/2014/main" id="{9C49A62C-2FF1-AA2C-90D9-E41EFBFF59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133" y="-89589"/>
            <a:ext cx="1828959" cy="14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2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6C81A6-E7B3-9B3C-8CC8-6771420F9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Goals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060C5-84F5-DC54-4841-F21C8BE1D6AA}"/>
              </a:ext>
            </a:extLst>
          </p:cNvPr>
          <p:cNvSpPr txBox="1"/>
          <p:nvPr/>
        </p:nvSpPr>
        <p:spPr>
          <a:xfrm>
            <a:off x="569980" y="1659285"/>
            <a:ext cx="8496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Wingdings" panose="05000000000000000000" pitchFamily="2" charset="2"/>
              <a:buChar char="q"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Identify key factors contributing to employee attrition.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Evaluate the predictive accuracy of the attrition model.</a:t>
            </a:r>
          </a:p>
          <a:p>
            <a:pPr marL="285744" indent="-285744">
              <a:buFont typeface="Wingdings" panose="05000000000000000000" pitchFamily="2" charset="2"/>
              <a:buChar char="q"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Analyze the financial impact of attrition prediction.</a:t>
            </a:r>
          </a:p>
        </p:txBody>
      </p:sp>
      <p:pic>
        <p:nvPicPr>
          <p:cNvPr id="9" name="Picture 8" descr="A red target with a arrow in the center&#10;&#10;AI-generated content may be incorrect.">
            <a:extLst>
              <a:ext uri="{FF2B5EF4-FFF2-40B4-BE49-F238E27FC236}">
                <a16:creationId xmlns:a16="http://schemas.microsoft.com/office/drawing/2014/main" id="{AF5D3CEA-7E55-6F58-432E-FA8359F6B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031" y="2913075"/>
            <a:ext cx="2400300" cy="136398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7616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1706-6CAD-34A1-AF94-9B1FAA5F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626C41-7DF9-86DA-AE95-5CA91B99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Attrition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A9A4E-1A8D-840D-C7A2-36CE40D03D10}"/>
              </a:ext>
            </a:extLst>
          </p:cNvPr>
          <p:cNvSpPr txBox="1"/>
          <p:nvPr/>
        </p:nvSpPr>
        <p:spPr>
          <a:xfrm>
            <a:off x="569977" y="1394460"/>
            <a:ext cx="849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Wingdings" panose="05000000000000000000" pitchFamily="2" charset="2"/>
              <a:buChar char="q"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A red and white rectangular box with numbers&#10;&#10;AI-generated content may be incorrect.">
            <a:extLst>
              <a:ext uri="{FF2B5EF4-FFF2-40B4-BE49-F238E27FC236}">
                <a16:creationId xmlns:a16="http://schemas.microsoft.com/office/drawing/2014/main" id="{969D7A0B-B20D-073E-9425-06AC2E132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5" y="2410631"/>
            <a:ext cx="5963730" cy="2636158"/>
          </a:xfrm>
          <a:prstGeom prst="rect">
            <a:avLst/>
          </a:prstGeom>
        </p:spPr>
      </p:pic>
      <p:pic>
        <p:nvPicPr>
          <p:cNvPr id="11" name="Picture 10" descr="A pie chart with a red triangle and a gray circle">
            <a:extLst>
              <a:ext uri="{FF2B5EF4-FFF2-40B4-BE49-F238E27FC236}">
                <a16:creationId xmlns:a16="http://schemas.microsoft.com/office/drawing/2014/main" id="{D741CB54-973D-4A02-E86B-773FD2E65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21" y="1493230"/>
            <a:ext cx="4972202" cy="447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3">
                                          <p:stCondLst>
                                            <p:cond delay="8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07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07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3">
                                          <p:stCondLst>
                                            <p:cond delay="20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07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07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A98A-D55D-0229-AD8D-09F64B53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D31707-AD45-7087-CDA0-EFA5875B3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Exploratory Data Analysis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8F3C96-D69F-9EB6-9E1D-45F9BEF53C67}"/>
              </a:ext>
            </a:extLst>
          </p:cNvPr>
          <p:cNvGrpSpPr/>
          <p:nvPr/>
        </p:nvGrpSpPr>
        <p:grpSpPr>
          <a:xfrm>
            <a:off x="1042652" y="1736791"/>
            <a:ext cx="10106696" cy="5121208"/>
            <a:chOff x="1042652" y="1736791"/>
            <a:chExt cx="10106696" cy="512120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808FC7-2485-DAC5-81AA-2C8F0F5D2360}"/>
                </a:ext>
              </a:extLst>
            </p:cNvPr>
            <p:cNvSpPr txBox="1"/>
            <p:nvPr/>
          </p:nvSpPr>
          <p:spPr>
            <a:xfrm>
              <a:off x="1686745" y="1736791"/>
              <a:ext cx="8496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A5002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Categorical Features Dictionary</a:t>
              </a:r>
            </a:p>
          </p:txBody>
        </p:sp>
        <p:pic>
          <p:nvPicPr>
            <p:cNvPr id="9" name="Picture 8" descr="A screenshot of a computer">
              <a:extLst>
                <a:ext uri="{FF2B5EF4-FFF2-40B4-BE49-F238E27FC236}">
                  <a16:creationId xmlns:a16="http://schemas.microsoft.com/office/drawing/2014/main" id="{FD221F52-5817-C539-F081-404A849C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783"/>
            <a:stretch>
              <a:fillRect/>
            </a:stretch>
          </p:blipFill>
          <p:spPr>
            <a:xfrm>
              <a:off x="1042652" y="2260011"/>
              <a:ext cx="10106696" cy="45979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939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6442-3A0F-6662-2C7C-C895ACD01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865A66-D9CC-9EA8-C5DA-BDE501172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Exploratory Data Analysis(Categorical Features)</a:t>
            </a:r>
          </a:p>
        </p:txBody>
      </p:sp>
      <p:pic>
        <p:nvPicPr>
          <p:cNvPr id="6" name="Picture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F268649E-FE22-D558-F3E1-5641E982A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926" y="1774577"/>
            <a:ext cx="8126147" cy="3016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B0EA20-FD5E-68DD-BFE1-16E3A2BDFD27}"/>
              </a:ext>
            </a:extLst>
          </p:cNvPr>
          <p:cNvSpPr txBox="1"/>
          <p:nvPr/>
        </p:nvSpPr>
        <p:spPr>
          <a:xfrm>
            <a:off x="2594809" y="5045691"/>
            <a:ext cx="7002379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marR="0" lvl="0" indent="-285750" rt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0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Cramér’s V</a:t>
            </a:r>
            <a:r>
              <a:rPr lang="en-US" sz="20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→ measures strength of association between two categorical variables</a:t>
            </a:r>
          </a:p>
          <a:p>
            <a:pPr marL="285750" marR="0" lvl="0" indent="-28575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0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Range:</a:t>
            </a:r>
            <a:r>
              <a:rPr lang="en-US" sz="20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0 = no relationship ‖ 1 = perfect relationship</a:t>
            </a:r>
          </a:p>
          <a:p>
            <a:pPr marL="285750" marR="0" lvl="0" indent="-28575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0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Use:</a:t>
            </a:r>
            <a:r>
              <a:rPr lang="en-US" sz="20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identifies how strongly each categorical factor relates to attrition</a:t>
            </a:r>
          </a:p>
        </p:txBody>
      </p:sp>
    </p:spTree>
    <p:extLst>
      <p:ext uri="{BB962C8B-B14F-4D97-AF65-F5344CB8AC3E}">
        <p14:creationId xmlns:p14="http://schemas.microsoft.com/office/powerpoint/2010/main" val="16540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E861-DCD2-BEE9-40C2-CEF93AAB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F18805-3520-FCD4-26B2-8A40ED53E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EDA (Categorical Features-Most Related)</a:t>
            </a:r>
          </a:p>
        </p:txBody>
      </p:sp>
      <p:pic>
        <p:nvPicPr>
          <p:cNvPr id="4" name="Picture 3" descr="A diagram of a pie chart">
            <a:extLst>
              <a:ext uri="{FF2B5EF4-FFF2-40B4-BE49-F238E27FC236}">
                <a16:creationId xmlns:a16="http://schemas.microsoft.com/office/drawing/2014/main" id="{9EF81007-BBAF-0DE1-B250-CD53B42A2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33"/>
          <a:stretch>
            <a:fillRect/>
          </a:stretch>
        </p:blipFill>
        <p:spPr>
          <a:xfrm>
            <a:off x="72199" y="1783730"/>
            <a:ext cx="6023801" cy="3488083"/>
          </a:xfrm>
          <a:prstGeom prst="rect">
            <a:avLst/>
          </a:prstGeom>
        </p:spPr>
      </p:pic>
      <p:pic>
        <p:nvPicPr>
          <p:cNvPr id="9" name="Picture 8" descr="A graph showing the number of employees who lead to a company&#10;&#10;AI-generated content may be incorrect.">
            <a:extLst>
              <a:ext uri="{FF2B5EF4-FFF2-40B4-BE49-F238E27FC236}">
                <a16:creationId xmlns:a16="http://schemas.microsoft.com/office/drawing/2014/main" id="{D4862D25-815C-D4C6-F026-F0E156298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379" y="2093862"/>
            <a:ext cx="5730621" cy="31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47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3F3D-0CE8-20FA-3AC3-DFECBDD3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5D3CC5-A378-3049-BDAA-83725F6CE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80" y="278993"/>
            <a:ext cx="9613065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EDA (Categorical Features-Least Related)</a:t>
            </a:r>
          </a:p>
          <a:p>
            <a:endParaRPr lang="en-US" sz="3600" b="1" dirty="0">
              <a:solidFill>
                <a:srgbClr val="A500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A graph with red and black numbers&#10;&#10;AI-generated content may be incorrect.">
            <a:extLst>
              <a:ext uri="{FF2B5EF4-FFF2-40B4-BE49-F238E27FC236}">
                <a16:creationId xmlns:a16="http://schemas.microsoft.com/office/drawing/2014/main" id="{06557C02-AAD7-65F7-BC9A-60B527716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112" y="1644777"/>
            <a:ext cx="6755130" cy="3568446"/>
          </a:xfrm>
          <a:prstGeom prst="rect">
            <a:avLst/>
          </a:prstGeom>
        </p:spPr>
      </p:pic>
      <p:pic>
        <p:nvPicPr>
          <p:cNvPr id="9" name="Picture 8" descr="A graph with red and grey squares&#10;&#10;AI-generated content may be incorrect.">
            <a:extLst>
              <a:ext uri="{FF2B5EF4-FFF2-40B4-BE49-F238E27FC236}">
                <a16:creationId xmlns:a16="http://schemas.microsoft.com/office/drawing/2014/main" id="{5DD2C2CC-D8AB-1163-91E4-B9ACA1B3F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414" y="1523790"/>
            <a:ext cx="6948526" cy="38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7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11BE-EA8F-1479-C727-3569BD34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D0836A-7FC8-CA63-3497-FEE8982B2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Exploratory Data Analysis(Numerical Features)</a:t>
            </a:r>
          </a:p>
        </p:txBody>
      </p:sp>
      <p:pic>
        <p:nvPicPr>
          <p:cNvPr id="4" name="Picture 3" descr="A table with red text&#10;&#10;AI-generated content may be incorrect.">
            <a:extLst>
              <a:ext uri="{FF2B5EF4-FFF2-40B4-BE49-F238E27FC236}">
                <a16:creationId xmlns:a16="http://schemas.microsoft.com/office/drawing/2014/main" id="{BF6A42CA-A7B5-5CDF-D53A-47308140B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44" y="1121712"/>
            <a:ext cx="7975092" cy="545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6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9016-6F17-3671-85BC-D67FF2CF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1369DD-7DD9-5203-9134-3EA3EDBB5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EDA (Numerical Features-Most Related)</a:t>
            </a:r>
          </a:p>
          <a:p>
            <a:endParaRPr lang="en-US" sz="3600" b="1" dirty="0">
              <a:solidFill>
                <a:srgbClr val="A500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A graph showing the age and age of groups&#10;&#10;AI-generated content may be incorrect.">
            <a:extLst>
              <a:ext uri="{FF2B5EF4-FFF2-40B4-BE49-F238E27FC236}">
                <a16:creationId xmlns:a16="http://schemas.microsoft.com/office/drawing/2014/main" id="{2301431E-CFA8-0B13-35F0-7BBB53DEB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25" y="1323975"/>
            <a:ext cx="8210550" cy="4210050"/>
          </a:xfrm>
          <a:prstGeom prst="rect">
            <a:avLst/>
          </a:prstGeom>
        </p:spPr>
      </p:pic>
      <p:pic>
        <p:nvPicPr>
          <p:cNvPr id="9" name="Picture 8" descr="A graph showing a number of people&#10;&#10;AI-generated content may be incorrect.">
            <a:extLst>
              <a:ext uri="{FF2B5EF4-FFF2-40B4-BE49-F238E27FC236}">
                <a16:creationId xmlns:a16="http://schemas.microsoft.com/office/drawing/2014/main" id="{E8CF5CD8-8EBA-1FB3-B8A8-9B1916686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25" y="1323975"/>
            <a:ext cx="8210550" cy="4210050"/>
          </a:xfrm>
          <a:prstGeom prst="rect">
            <a:avLst/>
          </a:prstGeom>
        </p:spPr>
      </p:pic>
      <p:pic>
        <p:nvPicPr>
          <p:cNvPr id="12" name="Picture 11" descr="A graph showing the age and income groups&#10;&#10;AI-generated content may be incorrect.">
            <a:extLst>
              <a:ext uri="{FF2B5EF4-FFF2-40B4-BE49-F238E27FC236}">
                <a16:creationId xmlns:a16="http://schemas.microsoft.com/office/drawing/2014/main" id="{EB28DB6D-2356-F015-0366-AB293940F2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48" y="1323975"/>
            <a:ext cx="82105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26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7C0E-0681-8D22-A423-52E9FDF7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5080" y="371167"/>
            <a:ext cx="7363136" cy="1033272"/>
          </a:xfrm>
        </p:spPr>
        <p:txBody>
          <a:bodyPr anchor="b">
            <a:noAutofit/>
          </a:bodyPr>
          <a:lstStyle/>
          <a:p>
            <a:r>
              <a:rPr lang="en-US" sz="34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Normal Distribution Comparison and T-Test Summary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FAF052-67A8-0367-AE86-EE0597689C9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15080" y="1579418"/>
            <a:ext cx="7363136" cy="4964550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Conclusion:</a:t>
            </a:r>
            <a:r>
              <a:rPr lang="en-US" sz="2000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There is strong statistical evidence that the average Monthly Income of employees who </a:t>
            </a:r>
            <a:r>
              <a:rPr lang="en-US" sz="2000" b="1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stayed</a:t>
            </a:r>
            <a:r>
              <a:rPr lang="en-US" sz="2000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is significantly higher than that of those who </a:t>
            </a:r>
            <a:r>
              <a:rPr lang="en-US" sz="2000" b="1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left</a:t>
            </a:r>
            <a:r>
              <a:rPr lang="en-US" sz="2000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(t-test, </a:t>
            </a:r>
            <a:r>
              <a:rPr lang="en-US" sz="2000" i="1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p</a:t>
            </a:r>
            <a:r>
              <a:rPr lang="en-US" sz="2000" kern="10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&lt; 0.05).</a:t>
            </a:r>
          </a:p>
          <a:p>
            <a:pPr marL="0" indent="0">
              <a:spcBef>
                <a:spcPts val="2500"/>
              </a:spcBef>
              <a:buNone/>
            </a:pPr>
            <a:endParaRPr lang="en-US" sz="14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B1B2501-66E7-0F9D-D772-278EA83A99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517" r="2517"/>
          <a:stretch/>
        </p:blipFill>
        <p:spPr>
          <a:xfrm>
            <a:off x="0" y="41564"/>
            <a:ext cx="4342584" cy="6858000"/>
          </a:xfrm>
          <a:prstGeom prst="rect">
            <a:avLst/>
          </a:prstGeom>
          <a:blipFill>
            <a:blip r:embed="rId4">
              <a:alphaModFix amt="80000"/>
            </a:blip>
            <a:stretch>
              <a:fillRect/>
            </a:stretch>
          </a:blipFill>
        </p:spPr>
      </p:pic>
      <p:pic>
        <p:nvPicPr>
          <p:cNvPr id="4" name="Picture 3" descr="A graph of a red line&#10;&#10;AI-generated content may be incorrect.">
            <a:extLst>
              <a:ext uri="{FF2B5EF4-FFF2-40B4-BE49-F238E27FC236}">
                <a16:creationId xmlns:a16="http://schemas.microsoft.com/office/drawing/2014/main" id="{1A0FA3CA-8D1E-FFAC-6CA5-89ACF7A76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296" y="2888757"/>
            <a:ext cx="7790704" cy="389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28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CCA4-9E04-1F72-0C5D-B9C4923F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DFE1DD-A369-F205-2B62-C755F27C2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Attrition Model-Naive Bayes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2D1A72-9AD9-FD07-3543-666A0D7DA6E4}"/>
              </a:ext>
            </a:extLst>
          </p:cNvPr>
          <p:cNvGrpSpPr/>
          <p:nvPr/>
        </p:nvGrpSpPr>
        <p:grpSpPr>
          <a:xfrm>
            <a:off x="499681" y="1980788"/>
            <a:ext cx="1911096" cy="3918097"/>
            <a:chOff x="1426464" y="1860911"/>
            <a:chExt cx="1911096" cy="3918097"/>
          </a:xfrm>
        </p:grpSpPr>
        <p:pic>
          <p:nvPicPr>
            <p:cNvPr id="2" name="Picture 1" descr="A table with red text&#10;&#10;AI-generated content may be incorrect.">
              <a:extLst>
                <a:ext uri="{FF2B5EF4-FFF2-40B4-BE49-F238E27FC236}">
                  <a16:creationId xmlns:a16="http://schemas.microsoft.com/office/drawing/2014/main" id="{528B1E12-ED1D-875A-AFEB-A76FE2EC3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6" t="21168" r="74231" b="14658"/>
            <a:stretch>
              <a:fillRect/>
            </a:stretch>
          </p:blipFill>
          <p:spPr>
            <a:xfrm>
              <a:off x="1426464" y="2276856"/>
              <a:ext cx="1911096" cy="350215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775430-3901-3BA5-0D6C-E1263EFC760B}"/>
                </a:ext>
              </a:extLst>
            </p:cNvPr>
            <p:cNvSpPr txBox="1"/>
            <p:nvPr/>
          </p:nvSpPr>
          <p:spPr>
            <a:xfrm>
              <a:off x="1426464" y="1860911"/>
              <a:ext cx="1911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highlight>
                    <a:srgbClr val="A50021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Predictors</a:t>
              </a:r>
            </a:p>
          </p:txBody>
        </p:sp>
      </p:grpSp>
      <p:pic>
        <p:nvPicPr>
          <p:cNvPr id="7" name="Picture 6" descr="A red and white rectangular box with text&#10;&#10;AI-generated content may be incorrect.">
            <a:extLst>
              <a:ext uri="{FF2B5EF4-FFF2-40B4-BE49-F238E27FC236}">
                <a16:creationId xmlns:a16="http://schemas.microsoft.com/office/drawing/2014/main" id="{84EA66CD-D03C-D960-27C9-16990EB7F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66" b="21167"/>
          <a:stretch>
            <a:fillRect/>
          </a:stretch>
        </p:blipFill>
        <p:spPr>
          <a:xfrm>
            <a:off x="2596895" y="2257800"/>
            <a:ext cx="4451985" cy="15736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563B61-A149-EC35-2AA4-A1C5A16FD6A2}"/>
              </a:ext>
            </a:extLst>
          </p:cNvPr>
          <p:cNvSpPr txBox="1"/>
          <p:nvPr/>
        </p:nvSpPr>
        <p:spPr>
          <a:xfrm>
            <a:off x="7234997" y="1400681"/>
            <a:ext cx="495700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Performance Summary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Accuracy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(TP + TN) / (TP + TN + FP + FN)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(150 + 30)/(150 + 30 + 19 + 62)= </a:t>
            </a:r>
            <a:r>
              <a:rPr lang="en-US" sz="2000" b="1" dirty="0"/>
              <a:t>68.97%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/>
              <a:t>Ability to correctly identify employees who stayed(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Sensitivity)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TP / (TP + FN)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150 / (150 + 62) = </a:t>
            </a:r>
            <a:r>
              <a:rPr lang="en-US" sz="2000" b="1" dirty="0"/>
              <a:t>70.75%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Ability to correctly identify employees who left(Specificity)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TN / (TN + FP)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30 / (30 + 19) = </a:t>
            </a:r>
            <a:r>
              <a:rPr lang="en-US" sz="2000" b="1" dirty="0"/>
              <a:t>61.22%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372EEBE7-E47F-4A49-3BDE-EF1077F51D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58" y="3813196"/>
            <a:ext cx="343090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7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CEA4-86C8-32DD-68CD-3513222B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A32653-E8BA-893A-771F-637E509C6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10024872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Cost Calculation-Naive Bayes Model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AD2F88E-DE4C-8052-FBAE-D725AB2E3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98086"/>
            <a:ext cx="11460480" cy="565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8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4965-B449-5F3F-E0DB-CB4BB3B3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1361B0-BA91-AADC-7728-9CB6B72C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Attrition Model-KNN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6D7F20-0B0B-1258-BBA3-5D79CEAC3315}"/>
              </a:ext>
            </a:extLst>
          </p:cNvPr>
          <p:cNvGrpSpPr/>
          <p:nvPr/>
        </p:nvGrpSpPr>
        <p:grpSpPr>
          <a:xfrm>
            <a:off x="499681" y="1980788"/>
            <a:ext cx="1911096" cy="3918097"/>
            <a:chOff x="1426464" y="1860911"/>
            <a:chExt cx="1911096" cy="3918097"/>
          </a:xfrm>
        </p:grpSpPr>
        <p:pic>
          <p:nvPicPr>
            <p:cNvPr id="2" name="Picture 1" descr="A table with red text&#10;&#10;AI-generated content may be incorrect.">
              <a:extLst>
                <a:ext uri="{FF2B5EF4-FFF2-40B4-BE49-F238E27FC236}">
                  <a16:creationId xmlns:a16="http://schemas.microsoft.com/office/drawing/2014/main" id="{DB1A6C9E-EAA9-F74B-176C-B6133E75A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6" t="21168" r="74231" b="14658"/>
            <a:stretch>
              <a:fillRect/>
            </a:stretch>
          </p:blipFill>
          <p:spPr>
            <a:xfrm>
              <a:off x="1426464" y="2276856"/>
              <a:ext cx="1911096" cy="350215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07993B5-B93C-5C1E-98BD-0F320E846435}"/>
                </a:ext>
              </a:extLst>
            </p:cNvPr>
            <p:cNvSpPr txBox="1"/>
            <p:nvPr/>
          </p:nvSpPr>
          <p:spPr>
            <a:xfrm>
              <a:off x="1426464" y="1860911"/>
              <a:ext cx="1911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highlight>
                    <a:srgbClr val="A50021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Predictors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122BB6F-3E64-C804-12F0-06313E574141}"/>
              </a:ext>
            </a:extLst>
          </p:cNvPr>
          <p:cNvSpPr txBox="1"/>
          <p:nvPr/>
        </p:nvSpPr>
        <p:spPr>
          <a:xfrm>
            <a:off x="7234997" y="1400681"/>
            <a:ext cx="495700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Performance Summary</a:t>
            </a:r>
          </a:p>
          <a:p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Accuracy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(TP + TN) / (TP + TN + FP + FN)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(157 + 28) / (157 + 28 + 13 + 63)= </a:t>
            </a:r>
            <a:r>
              <a:rPr lang="en-US" sz="2000" b="1" dirty="0"/>
              <a:t>70.88%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/>
              <a:t>Ability to correctly identify employees who stayed(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Sensitivity)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TP / (TP + FN)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157 / (157 + 63) = </a:t>
            </a:r>
            <a:r>
              <a:rPr lang="en-US" sz="2000" b="1" dirty="0"/>
              <a:t>71.36%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Ability to correctly identify employees who left(Specificity)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TN / (TN + FP)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28 / (28 + 13) = </a:t>
            </a:r>
            <a:r>
              <a:rPr lang="en-US" sz="2000" b="1" dirty="0"/>
              <a:t>68.29%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 descr="A red and white rectangular box with numbers&#10;&#10;AI-generated content may be incorrect.">
            <a:extLst>
              <a:ext uri="{FF2B5EF4-FFF2-40B4-BE49-F238E27FC236}">
                <a16:creationId xmlns:a16="http://schemas.microsoft.com/office/drawing/2014/main" id="{D7570EBA-5F14-98CD-7AB8-4C70CECD1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6" b="18241"/>
          <a:stretch>
            <a:fillRect/>
          </a:stretch>
        </p:blipFill>
        <p:spPr>
          <a:xfrm>
            <a:off x="2596894" y="2120274"/>
            <a:ext cx="4451985" cy="1782619"/>
          </a:xfrm>
          <a:prstGeom prst="rect">
            <a:avLst/>
          </a:prstGeom>
        </p:spPr>
      </p:pic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FF10A4E7-1AF3-9C5F-78AE-958BEAC7E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433" y="3745473"/>
            <a:ext cx="343090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1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C5CE-933F-967F-C85B-85E52D61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8AF1D7-1FE7-1A09-D6A8-C50B95A57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Cost Calculation – KNN Model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BA3C9A-8736-00B2-3B9A-0A8016087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98086"/>
            <a:ext cx="11460480" cy="565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B754-537F-2FAB-F284-354F109E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6EC87D-B678-C17A-71F9-32E88AE26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278993"/>
            <a:ext cx="9863324" cy="1001356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</a:t>
            </a:r>
            <a:r>
              <a:rPr lang="en-US" sz="3600" b="1" dirty="0">
                <a:solidFill>
                  <a:srgbClr val="A500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Cost Trade-Offs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8C64C3-D69F-8F5B-3D4B-57D60E1AD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11609"/>
              </p:ext>
            </p:extLst>
          </p:nvPr>
        </p:nvGraphicFramePr>
        <p:xfrm>
          <a:off x="1570182" y="2245225"/>
          <a:ext cx="9051636" cy="3020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212">
                  <a:extLst>
                    <a:ext uri="{9D8B030D-6E8A-4147-A177-3AD203B41FA5}">
                      <a16:colId xmlns:a16="http://schemas.microsoft.com/office/drawing/2014/main" val="1196064977"/>
                    </a:ext>
                  </a:extLst>
                </a:gridCol>
                <a:gridCol w="3017212">
                  <a:extLst>
                    <a:ext uri="{9D8B030D-6E8A-4147-A177-3AD203B41FA5}">
                      <a16:colId xmlns:a16="http://schemas.microsoft.com/office/drawing/2014/main" val="3468931116"/>
                    </a:ext>
                  </a:extLst>
                </a:gridCol>
                <a:gridCol w="3017212">
                  <a:extLst>
                    <a:ext uri="{9D8B030D-6E8A-4147-A177-3AD203B41FA5}">
                      <a16:colId xmlns:a16="http://schemas.microsoft.com/office/drawing/2014/main" val="2488456959"/>
                    </a:ext>
                  </a:extLst>
                </a:gridCol>
              </a:tblGrid>
              <a:tr h="6040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NAIVE BAYES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285787"/>
                  </a:ext>
                </a:extLst>
              </a:tr>
              <a:tr h="6040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68.97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231872"/>
                  </a:ext>
                </a:extLst>
              </a:tr>
              <a:tr h="6040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93202"/>
                  </a:ext>
                </a:extLst>
              </a:tr>
              <a:tr h="6040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61.22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155003"/>
                  </a:ext>
                </a:extLst>
              </a:tr>
              <a:tr h="6040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highlight>
                            <a:srgbClr val="00FF00"/>
                          </a:highlight>
                        </a:rPr>
                        <a:t>0.52M – 4.01M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0.75M – 5.84M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33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146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39144-4790-619A-04B1-028BA901C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80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83F12-BEE0-32F3-AE57-3EB726EDBC11}"/>
              </a:ext>
            </a:extLst>
          </p:cNvPr>
          <p:cNvSpPr txBox="1"/>
          <p:nvPr/>
        </p:nvSpPr>
        <p:spPr>
          <a:xfrm>
            <a:off x="97447" y="5589989"/>
            <a:ext cx="53446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Koosha Tabesh</a:t>
            </a:r>
          </a:p>
          <a:p>
            <a:r>
              <a:rPr lang="en-US" sz="2400" b="1" dirty="0">
                <a:solidFill>
                  <a:srgbClr val="A50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ktabesh@smu.edu</a:t>
            </a:r>
          </a:p>
        </p:txBody>
      </p:sp>
    </p:spTree>
    <p:extLst>
      <p:ext uri="{BB962C8B-B14F-4D97-AF65-F5344CB8AC3E}">
        <p14:creationId xmlns:p14="http://schemas.microsoft.com/office/powerpoint/2010/main" val="280038494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A923440E-1285-45C1-B66B-8630BD70D041}" vid="{F02A544F-3BB0-402C-9DE1-17A1995AA5F3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AEFF06-C01D-4782-9025-60F06DFEAF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E87D78-9CEC-4EE9-94B9-0F2EEEB8A0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6201E-DF07-4095-9F76-DD2E789400A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5675</TotalTime>
  <Words>419</Words>
  <Application>Microsoft Office PowerPoint</Application>
  <PresentationFormat>Widescreen</PresentationFormat>
  <Paragraphs>95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Haettenschweiler</vt:lpstr>
      <vt:lpstr>Segoe UI</vt:lpstr>
      <vt:lpstr>Trade Gothic Next Light</vt:lpstr>
      <vt:lpstr>Wingdings</vt:lpstr>
      <vt:lpstr>Wingdings 3</vt:lpstr>
      <vt:lpstr>Editorial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Normal Distribution Comparison and T-Test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Niyna Spellman</dc:creator>
  <cp:lastModifiedBy>Tabesh, Koosha</cp:lastModifiedBy>
  <cp:revision>11</cp:revision>
  <dcterms:created xsi:type="dcterms:W3CDTF">2025-08-04T19:41:08Z</dcterms:created>
  <dcterms:modified xsi:type="dcterms:W3CDTF">2025-10-27T01:25:44Z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